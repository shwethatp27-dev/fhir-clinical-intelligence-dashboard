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6" r:id="rId7"/>
    <p:sldId id="267" r:id="rId8"/>
    <p:sldId id="264" r:id="rId9"/>
    <p:sldId id="26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1400" y="-1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320729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2378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7378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5591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6821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686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3107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9952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802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4828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2883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0895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5898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3034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6743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9700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261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13750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FHIR Clinical Intelligence Platform</a:t>
            </a:r>
          </a:p>
        </p:txBody>
      </p:sp>
      <p:sp>
        <p:nvSpPr>
          <p:cNvPr id="3" name="Subtitle 2"/>
          <p:cNvSpPr>
            <a:spLocks noGrp="1"/>
          </p:cNvSpPr>
          <p:nvPr>
            <p:ph idx="1"/>
          </p:nvPr>
        </p:nvSpPr>
        <p:spPr>
          <a:xfrm>
            <a:off x="982133" y="2178121"/>
            <a:ext cx="7704667" cy="3626778"/>
          </a:xfrm>
        </p:spPr>
        <p:txBody>
          <a:bodyPr>
            <a:normAutofit lnSpcReduction="10000"/>
          </a:bodyPr>
          <a:lstStyle/>
          <a:p>
            <a:pPr marL="0" indent="0" algn="ctr">
              <a:buNone/>
            </a:pPr>
            <a:endParaRPr lang="en-US" sz="2800" dirty="0"/>
          </a:p>
          <a:p>
            <a:pPr marL="0" indent="0" algn="ctr">
              <a:buNone/>
            </a:pPr>
            <a:r>
              <a:rPr lang="en-US" sz="2800" dirty="0"/>
              <a:t>This project is a Spring Boot based FHIR Clinical Intelligence Platform. It integrates with a HAPI FHIR R4 server and retrieves patient clinical information such as Conditions, Medication Requests, and Observations. The application aggregates this data into a single dashboard and generates simple clinical insights.</a:t>
            </a:r>
          </a:p>
          <a:p>
            <a:pPr algn="ct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2"/>
            <a:ext cx="7704667" cy="1338208"/>
          </a:xfrm>
        </p:spPr>
        <p:txBody>
          <a:bodyPr/>
          <a:lstStyle/>
          <a:p>
            <a:r>
              <a:rPr dirty="0"/>
              <a:t>Problem Statement</a:t>
            </a:r>
          </a:p>
        </p:txBody>
      </p:sp>
      <p:sp>
        <p:nvSpPr>
          <p:cNvPr id="4" name="Content Placeholder 3">
            <a:extLst>
              <a:ext uri="{FF2B5EF4-FFF2-40B4-BE49-F238E27FC236}">
                <a16:creationId xmlns:a16="http://schemas.microsoft.com/office/drawing/2014/main" id="{9B359162-9E00-C29F-06A6-C1ACE2C8203D}"/>
              </a:ext>
            </a:extLst>
          </p:cNvPr>
          <p:cNvSpPr>
            <a:spLocks noGrp="1"/>
          </p:cNvSpPr>
          <p:nvPr>
            <p:ph sz="half" idx="1"/>
          </p:nvPr>
        </p:nvSpPr>
        <p:spPr>
          <a:xfrm>
            <a:off x="982132" y="1849348"/>
            <a:ext cx="7704667" cy="2363056"/>
          </a:xfrm>
        </p:spPr>
        <p:txBody>
          <a:bodyPr>
            <a:normAutofit/>
          </a:bodyPr>
          <a:lstStyle/>
          <a:p>
            <a:pPr marL="0" indent="0">
              <a:buNone/>
            </a:pPr>
            <a:r>
              <a:rPr lang="en-US" sz="2400" dirty="0"/>
              <a:t>Healthcare data is often distributed across multiple FHIR resources. Clinicians shouldn't have to open each resource individually. This application retrieves the relevant resources and presents them together in a unified patient dashboard.</a:t>
            </a:r>
            <a:endParaRPr lang="en-IN" sz="2400" dirty="0"/>
          </a:p>
        </p:txBody>
      </p:sp>
      <p:sp>
        <p:nvSpPr>
          <p:cNvPr id="5" name="Content Placeholder 4">
            <a:extLst>
              <a:ext uri="{FF2B5EF4-FFF2-40B4-BE49-F238E27FC236}">
                <a16:creationId xmlns:a16="http://schemas.microsoft.com/office/drawing/2014/main" id="{D8E45075-E99A-A0DC-BDED-53480C9F9041}"/>
              </a:ext>
            </a:extLst>
          </p:cNvPr>
          <p:cNvSpPr>
            <a:spLocks noGrp="1"/>
          </p:cNvSpPr>
          <p:nvPr>
            <p:ph sz="half" idx="2"/>
          </p:nvPr>
        </p:nvSpPr>
        <p:spPr>
          <a:xfrm>
            <a:off x="1130157" y="3965824"/>
            <a:ext cx="7556643" cy="2047999"/>
          </a:xfrm>
        </p:spPr>
        <p:txBody>
          <a:bodyPr>
            <a:normAutofit/>
          </a:bodyPr>
          <a:lstStyle/>
          <a:p>
            <a:pPr marL="0" indent="0">
              <a:buNone/>
            </a:pPr>
            <a:r>
              <a:rPr lang="en-US" sz="2400" dirty="0"/>
              <a:t>• Legacy healthcare data is difficult to interpret.</a:t>
            </a:r>
            <a:br>
              <a:rPr lang="en-US" sz="2400" dirty="0"/>
            </a:br>
            <a:r>
              <a:rPr lang="en-US" sz="2400" dirty="0"/>
              <a:t>• Clinicians need a unified patient view.</a:t>
            </a:r>
            <a:br>
              <a:rPr lang="en-US" sz="2400" dirty="0"/>
            </a:br>
            <a:r>
              <a:rPr lang="en-US" sz="2400" dirty="0"/>
              <a:t>• FHIR enables standardized interoperability</a:t>
            </a: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2"/>
            <a:ext cx="7704667" cy="1071080"/>
          </a:xfrm>
        </p:spPr>
        <p:txBody>
          <a:bodyPr/>
          <a:lstStyle/>
          <a:p>
            <a:r>
              <a:rPr dirty="0"/>
              <a:t>Architecture</a:t>
            </a:r>
          </a:p>
        </p:txBody>
      </p:sp>
      <p:sp>
        <p:nvSpPr>
          <p:cNvPr id="4" name="Content Placeholder 3">
            <a:extLst>
              <a:ext uri="{FF2B5EF4-FFF2-40B4-BE49-F238E27FC236}">
                <a16:creationId xmlns:a16="http://schemas.microsoft.com/office/drawing/2014/main" id="{C00F7F5F-C9AB-429D-454D-E766860328FA}"/>
              </a:ext>
            </a:extLst>
          </p:cNvPr>
          <p:cNvSpPr>
            <a:spLocks noGrp="1"/>
          </p:cNvSpPr>
          <p:nvPr>
            <p:ph sz="half" idx="1"/>
          </p:nvPr>
        </p:nvSpPr>
        <p:spPr>
          <a:xfrm>
            <a:off x="982133" y="1859622"/>
            <a:ext cx="3739896" cy="3801439"/>
          </a:xfrm>
        </p:spPr>
        <p:txBody>
          <a:bodyPr>
            <a:normAutofit/>
          </a:bodyPr>
          <a:lstStyle/>
          <a:p>
            <a:pPr marL="0" indent="0">
              <a:buNone/>
            </a:pPr>
            <a:r>
              <a:rPr lang="en-US" sz="2000" dirty="0"/>
              <a:t>The application follows a layered architecture. The UI communicates with Spring Boot controllers, which call dedicated services for each FHIR resource. These services use the HAPI FHIR client to retrieve data from the HAPI FHIR server. The retrieved data is combined into a dashboard DTO and displayed to the user</a:t>
            </a:r>
            <a:endParaRPr lang="en-IN" sz="2000" dirty="0"/>
          </a:p>
        </p:txBody>
      </p:sp>
      <p:sp>
        <p:nvSpPr>
          <p:cNvPr id="5" name="Content Placeholder 4">
            <a:extLst>
              <a:ext uri="{FF2B5EF4-FFF2-40B4-BE49-F238E27FC236}">
                <a16:creationId xmlns:a16="http://schemas.microsoft.com/office/drawing/2014/main" id="{310C6233-733A-B223-C3CC-E2E6AC07663C}"/>
              </a:ext>
            </a:extLst>
          </p:cNvPr>
          <p:cNvSpPr>
            <a:spLocks noGrp="1"/>
          </p:cNvSpPr>
          <p:nvPr>
            <p:ph sz="half" idx="2"/>
          </p:nvPr>
        </p:nvSpPr>
        <p:spPr>
          <a:xfrm>
            <a:off x="4946904" y="1654139"/>
            <a:ext cx="3739896" cy="4359685"/>
          </a:xfrm>
        </p:spPr>
        <p:txBody>
          <a:bodyPr>
            <a:normAutofit/>
          </a:bodyPr>
          <a:lstStyle/>
          <a:p>
            <a:pPr marL="0" indent="0">
              <a:buNone/>
            </a:pPr>
            <a:r>
              <a:rPr lang="en-IN" sz="2000" dirty="0"/>
              <a:t>Browser → Spring Boot → HAPI FHIR Server</a:t>
            </a:r>
            <a:br>
              <a:rPr lang="en-IN" sz="2000" dirty="0"/>
            </a:br>
            <a:br>
              <a:rPr lang="en-IN" sz="2000" dirty="0"/>
            </a:br>
            <a:r>
              <a:rPr lang="en-IN" sz="2000" dirty="0"/>
              <a:t>Services:</a:t>
            </a:r>
            <a:br>
              <a:rPr lang="en-IN" sz="2000" dirty="0"/>
            </a:br>
            <a:r>
              <a:rPr lang="en-IN" sz="2000" dirty="0"/>
              <a:t>• </a:t>
            </a:r>
            <a:r>
              <a:rPr lang="en-IN" sz="2000" dirty="0" err="1"/>
              <a:t>PatientService</a:t>
            </a:r>
            <a:br>
              <a:rPr lang="en-IN" sz="2000" dirty="0"/>
            </a:br>
            <a:r>
              <a:rPr lang="en-IN" sz="2000" dirty="0"/>
              <a:t>• </a:t>
            </a:r>
            <a:r>
              <a:rPr lang="en-IN" sz="2000" dirty="0" err="1"/>
              <a:t>ConditionService</a:t>
            </a:r>
            <a:br>
              <a:rPr lang="en-IN" sz="2000" dirty="0"/>
            </a:br>
            <a:r>
              <a:rPr lang="en-IN" sz="2000" dirty="0"/>
              <a:t>• </a:t>
            </a:r>
            <a:r>
              <a:rPr lang="en-IN" sz="2000" dirty="0" err="1"/>
              <a:t>MedicationService</a:t>
            </a:r>
            <a:br>
              <a:rPr lang="en-IN" sz="2000" dirty="0"/>
            </a:br>
            <a:r>
              <a:rPr lang="en-IN" sz="2000" dirty="0"/>
              <a:t>• </a:t>
            </a:r>
            <a:r>
              <a:rPr lang="en-IN" sz="2000" dirty="0" err="1"/>
              <a:t>ObservationService</a:t>
            </a:r>
            <a:br>
              <a:rPr lang="en-IN" sz="2000" dirty="0"/>
            </a:br>
            <a:r>
              <a:rPr lang="en-IN" sz="2000" dirty="0"/>
              <a:t>• </a:t>
            </a:r>
            <a:r>
              <a:rPr lang="en-IN" sz="2000" dirty="0" err="1"/>
              <a:t>ClinicalInsightService</a:t>
            </a:r>
            <a:br>
              <a:rPr lang="en-IN" sz="2000" dirty="0"/>
            </a:br>
            <a:br>
              <a:rPr lang="en-IN" dirty="0"/>
            </a:b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TextBox 2"/>
          <p:cNvSpPr txBox="1"/>
          <p:nvPr/>
        </p:nvSpPr>
        <p:spPr>
          <a:xfrm>
            <a:off x="1633592" y="1941815"/>
            <a:ext cx="4458984" cy="2462213"/>
          </a:xfrm>
          <a:prstGeom prst="rect">
            <a:avLst/>
          </a:prstGeom>
          <a:noFill/>
        </p:spPr>
        <p:txBody>
          <a:bodyPr wrap="square">
            <a:spAutoFit/>
          </a:bodyPr>
          <a:lstStyle/>
          <a:p>
            <a:pPr>
              <a:defRPr sz="2200"/>
            </a:pPr>
            <a:r>
              <a:rPr dirty="0"/>
              <a:t>• Java 17</a:t>
            </a:r>
            <a:br>
              <a:rPr dirty="0"/>
            </a:br>
            <a:r>
              <a:rPr dirty="0"/>
              <a:t>• Spring Boot</a:t>
            </a:r>
            <a:br>
              <a:rPr dirty="0"/>
            </a:br>
            <a:r>
              <a:rPr dirty="0"/>
              <a:t>• Maven</a:t>
            </a:r>
            <a:br>
              <a:rPr dirty="0"/>
            </a:br>
            <a:r>
              <a:rPr dirty="0"/>
              <a:t>• HAPI FHIR R4</a:t>
            </a:r>
            <a:br>
              <a:rPr dirty="0"/>
            </a:br>
            <a:r>
              <a:rPr dirty="0"/>
              <a:t>• </a:t>
            </a:r>
            <a:r>
              <a:rPr dirty="0" err="1"/>
              <a:t>Thymeleaf</a:t>
            </a:r>
            <a:br>
              <a:rPr dirty="0"/>
            </a:br>
            <a:r>
              <a:rPr dirty="0"/>
              <a:t>• Bootstrap</a:t>
            </a:r>
            <a:br>
              <a:rPr dirty="0"/>
            </a:br>
            <a:r>
              <a:rPr dirty="0"/>
              <a:t>• Eclipse 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07" y="205483"/>
            <a:ext cx="7854593" cy="780836"/>
          </a:xfrm>
        </p:spPr>
        <p:txBody>
          <a:bodyPr>
            <a:normAutofit/>
          </a:bodyPr>
          <a:lstStyle/>
          <a:p>
            <a:r>
              <a:rPr sz="3600" dirty="0"/>
              <a:t>Application Workflow</a:t>
            </a:r>
          </a:p>
        </p:txBody>
      </p:sp>
      <p:sp>
        <p:nvSpPr>
          <p:cNvPr id="3" name="TextBox 2"/>
          <p:cNvSpPr txBox="1"/>
          <p:nvPr/>
        </p:nvSpPr>
        <p:spPr>
          <a:xfrm>
            <a:off x="945222" y="811658"/>
            <a:ext cx="7101497" cy="5170646"/>
          </a:xfrm>
          <a:prstGeom prst="rect">
            <a:avLst/>
          </a:prstGeom>
          <a:noFill/>
        </p:spPr>
        <p:txBody>
          <a:bodyPr wrap="square">
            <a:spAutoFit/>
          </a:bodyPr>
          <a:lstStyle/>
          <a:p>
            <a:pPr>
              <a:defRPr sz="2200"/>
            </a:pPr>
            <a:r>
              <a:rPr dirty="0"/>
              <a:t>1. Search Patient</a:t>
            </a:r>
            <a:endParaRPr lang="en-IN" dirty="0"/>
          </a:p>
          <a:p>
            <a:pPr>
              <a:defRPr sz="2200"/>
            </a:pPr>
            <a:endParaRPr lang="en-IN" dirty="0"/>
          </a:p>
          <a:p>
            <a:pPr>
              <a:defRPr sz="2200"/>
            </a:pPr>
            <a:endParaRPr lang="en-IN" dirty="0"/>
          </a:p>
          <a:p>
            <a:pPr>
              <a:defRPr sz="2200"/>
            </a:pPr>
            <a:endParaRPr lang="en-IN" dirty="0"/>
          </a:p>
          <a:p>
            <a:pPr>
              <a:defRPr sz="2200"/>
            </a:pPr>
            <a:endParaRPr lang="en-IN" dirty="0"/>
          </a:p>
          <a:p>
            <a:pPr>
              <a:defRPr sz="2200"/>
            </a:pPr>
            <a:endParaRPr lang="en-IN" dirty="0"/>
          </a:p>
          <a:p>
            <a:pPr>
              <a:defRPr sz="2200"/>
            </a:pPr>
            <a:endParaRPr lang="en-IN" dirty="0"/>
          </a:p>
          <a:p>
            <a:pPr>
              <a:defRPr sz="2200"/>
            </a:pPr>
            <a:endParaRPr lang="en-IN" dirty="0"/>
          </a:p>
          <a:p>
            <a:pPr lvl="1">
              <a:defRPr sz="2200"/>
            </a:pPr>
            <a:r>
              <a:rPr lang="en-US" sz="2000" dirty="0">
                <a:latin typeface="Calibri" panose="020F0502020204030204" pitchFamily="34" charset="0"/>
                <a:ea typeface="Calibri" panose="020F0502020204030204" pitchFamily="34" charset="0"/>
                <a:cs typeface="Calibri" panose="020F0502020204030204" pitchFamily="34" charset="0"/>
              </a:rPr>
              <a:t>The user searches for a patient by name</a:t>
            </a:r>
            <a:endParaRPr lang="en-IN" sz="2000" dirty="0">
              <a:latin typeface="Calibri" panose="020F0502020204030204" pitchFamily="34" charset="0"/>
              <a:ea typeface="Calibri" panose="020F0502020204030204" pitchFamily="34" charset="0"/>
              <a:cs typeface="Calibri" panose="020F0502020204030204" pitchFamily="34" charset="0"/>
            </a:endParaRPr>
          </a:p>
          <a:p>
            <a:pPr>
              <a:defRPr sz="2200"/>
            </a:pPr>
            <a:endParaRPr lang="en-IN" dirty="0"/>
          </a:p>
          <a:p>
            <a:pPr>
              <a:defRPr sz="2200"/>
            </a:pPr>
            <a:endParaRPr lang="en-IN" dirty="0"/>
          </a:p>
          <a:p>
            <a:pPr>
              <a:defRPr sz="2200"/>
            </a:pPr>
            <a:endParaRPr lang="en-IN" dirty="0"/>
          </a:p>
          <a:p>
            <a:pPr>
              <a:defRPr sz="2200"/>
            </a:pPr>
            <a:endParaRPr lang="en-IN" dirty="0"/>
          </a:p>
          <a:p>
            <a:pPr>
              <a:defRPr sz="2200"/>
            </a:pPr>
            <a:endParaRPr lang="en-IN" dirty="0"/>
          </a:p>
          <a:p>
            <a:pPr>
              <a:defRPr sz="2200"/>
            </a:pPr>
            <a:endParaRPr lang="en-IN" dirty="0"/>
          </a:p>
        </p:txBody>
      </p:sp>
      <p:pic>
        <p:nvPicPr>
          <p:cNvPr id="5" name="Picture 4">
            <a:extLst>
              <a:ext uri="{FF2B5EF4-FFF2-40B4-BE49-F238E27FC236}">
                <a16:creationId xmlns:a16="http://schemas.microsoft.com/office/drawing/2014/main" id="{A02FFD13-3348-57D8-12E4-E823D25F85B2}"/>
              </a:ext>
            </a:extLst>
          </p:cNvPr>
          <p:cNvPicPr>
            <a:picLocks noChangeAspect="1"/>
          </p:cNvPicPr>
          <p:nvPr/>
        </p:nvPicPr>
        <p:blipFill>
          <a:blip r:embed="rId2"/>
          <a:stretch>
            <a:fillRect/>
          </a:stretch>
        </p:blipFill>
        <p:spPr>
          <a:xfrm>
            <a:off x="2002331" y="1263908"/>
            <a:ext cx="4542307" cy="2322428"/>
          </a:xfrm>
          <a:prstGeom prst="rect">
            <a:avLst/>
          </a:prstGeom>
        </p:spPr>
      </p:pic>
      <p:pic>
        <p:nvPicPr>
          <p:cNvPr id="7" name="Picture 6">
            <a:extLst>
              <a:ext uri="{FF2B5EF4-FFF2-40B4-BE49-F238E27FC236}">
                <a16:creationId xmlns:a16="http://schemas.microsoft.com/office/drawing/2014/main" id="{D5368F5A-BE07-3A06-7D71-60A5A2C21263}"/>
              </a:ext>
            </a:extLst>
          </p:cNvPr>
          <p:cNvPicPr>
            <a:picLocks noChangeAspect="1"/>
          </p:cNvPicPr>
          <p:nvPr/>
        </p:nvPicPr>
        <p:blipFill>
          <a:blip r:embed="rId3"/>
          <a:stretch>
            <a:fillRect/>
          </a:stretch>
        </p:blipFill>
        <p:spPr>
          <a:xfrm>
            <a:off x="2022850" y="3978822"/>
            <a:ext cx="4686541" cy="25401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DC8D34-159B-C10A-95BB-34858385C027}"/>
              </a:ext>
            </a:extLst>
          </p:cNvPr>
          <p:cNvSpPr txBox="1"/>
          <p:nvPr/>
        </p:nvSpPr>
        <p:spPr>
          <a:xfrm>
            <a:off x="1397285" y="390419"/>
            <a:ext cx="7150813" cy="6186309"/>
          </a:xfrm>
          <a:prstGeom prst="rect">
            <a:avLst/>
          </a:prstGeom>
          <a:noFill/>
        </p:spPr>
        <p:txBody>
          <a:bodyPr wrap="square" rtlCol="0">
            <a:spAutoFit/>
          </a:bodyPr>
          <a:lstStyle/>
          <a:p>
            <a:r>
              <a:rPr lang="en-IN" dirty="0"/>
              <a:t>2. </a:t>
            </a:r>
            <a:r>
              <a:rPr lang="en-US" dirty="0"/>
              <a:t>The application retrieves the patient details and related FHIR resources including Conditions, Medication Requests, and Observations.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br>
              <a:rPr lang="en-US" dirty="0"/>
            </a:br>
            <a:br>
              <a:rPr lang="en-US" dirty="0"/>
            </a:br>
            <a:endParaRPr lang="en-US" dirty="0"/>
          </a:p>
          <a:p>
            <a:endParaRPr lang="en-IN" dirty="0"/>
          </a:p>
        </p:txBody>
      </p:sp>
      <p:pic>
        <p:nvPicPr>
          <p:cNvPr id="5" name="Picture 4">
            <a:extLst>
              <a:ext uri="{FF2B5EF4-FFF2-40B4-BE49-F238E27FC236}">
                <a16:creationId xmlns:a16="http://schemas.microsoft.com/office/drawing/2014/main" id="{8C9F9755-9E7F-EA7A-CC5A-4A06948C68C5}"/>
              </a:ext>
            </a:extLst>
          </p:cNvPr>
          <p:cNvPicPr>
            <a:picLocks noChangeAspect="1"/>
          </p:cNvPicPr>
          <p:nvPr/>
        </p:nvPicPr>
        <p:blipFill>
          <a:blip r:embed="rId2"/>
          <a:stretch>
            <a:fillRect/>
          </a:stretch>
        </p:blipFill>
        <p:spPr>
          <a:xfrm>
            <a:off x="1701204" y="1058237"/>
            <a:ext cx="6045511" cy="5495717"/>
          </a:xfrm>
          <a:prstGeom prst="rect">
            <a:avLst/>
          </a:prstGeom>
        </p:spPr>
      </p:pic>
    </p:spTree>
    <p:extLst>
      <p:ext uri="{BB962C8B-B14F-4D97-AF65-F5344CB8AC3E}">
        <p14:creationId xmlns:p14="http://schemas.microsoft.com/office/powerpoint/2010/main" val="3251275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D80831-2407-F4F8-657B-3D77228A41A3}"/>
              </a:ext>
            </a:extLst>
          </p:cNvPr>
          <p:cNvSpPr txBox="1"/>
          <p:nvPr/>
        </p:nvSpPr>
        <p:spPr>
          <a:xfrm>
            <a:off x="1643864" y="328772"/>
            <a:ext cx="6996701" cy="7017306"/>
          </a:xfrm>
          <a:prstGeom prst="rect">
            <a:avLst/>
          </a:prstGeom>
          <a:noFill/>
        </p:spPr>
        <p:txBody>
          <a:bodyPr wrap="square" rtlCol="0">
            <a:spAutoFit/>
          </a:bodyPr>
          <a:lstStyle/>
          <a:p>
            <a:r>
              <a:rPr lang="en-US" dirty="0"/>
              <a:t>3. The Clinical Insight Service processes this information and generates alerts, a risk level, and a clinical summary before displaying the dashboard.</a:t>
            </a:r>
          </a:p>
          <a:p>
            <a:endParaRPr lang="en-US" dirty="0"/>
          </a:p>
          <a:p>
            <a:br>
              <a:rPr lang="en-US" dirty="0"/>
            </a:b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F9BE964F-6D2B-EC52-18C3-09B30164CCEB}"/>
              </a:ext>
            </a:extLst>
          </p:cNvPr>
          <p:cNvPicPr>
            <a:picLocks noChangeAspect="1"/>
          </p:cNvPicPr>
          <p:nvPr/>
        </p:nvPicPr>
        <p:blipFill>
          <a:blip r:embed="rId2"/>
          <a:stretch>
            <a:fillRect/>
          </a:stretch>
        </p:blipFill>
        <p:spPr>
          <a:xfrm>
            <a:off x="2353224" y="1243174"/>
            <a:ext cx="4879784" cy="5421336"/>
          </a:xfrm>
          <a:prstGeom prst="rect">
            <a:avLst/>
          </a:prstGeom>
        </p:spPr>
      </p:pic>
    </p:spTree>
    <p:extLst>
      <p:ext uri="{BB962C8B-B14F-4D97-AF65-F5344CB8AC3E}">
        <p14:creationId xmlns:p14="http://schemas.microsoft.com/office/powerpoint/2010/main" val="3186523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107996"/>
          </a:xfrm>
        </p:spPr>
        <p:txBody>
          <a:bodyPr/>
          <a:lstStyle/>
          <a:p>
            <a:r>
              <a:rPr dirty="0"/>
              <a:t>Challenges &amp; Learnings</a:t>
            </a:r>
          </a:p>
        </p:txBody>
      </p:sp>
      <p:sp>
        <p:nvSpPr>
          <p:cNvPr id="3" name="TextBox 2"/>
          <p:cNvSpPr txBox="1"/>
          <p:nvPr/>
        </p:nvSpPr>
        <p:spPr>
          <a:xfrm>
            <a:off x="1448656" y="1623316"/>
            <a:ext cx="6598063" cy="1785104"/>
          </a:xfrm>
          <a:prstGeom prst="rect">
            <a:avLst/>
          </a:prstGeom>
          <a:noFill/>
        </p:spPr>
        <p:txBody>
          <a:bodyPr wrap="square">
            <a:spAutoFit/>
          </a:bodyPr>
          <a:lstStyle/>
          <a:p>
            <a:pPr>
              <a:defRPr sz="2200"/>
            </a:pPr>
            <a:r>
              <a:rPr dirty="0"/>
              <a:t>• Integrated Spring Boot with HAPI FHIR</a:t>
            </a:r>
            <a:br>
              <a:rPr dirty="0"/>
            </a:br>
            <a:r>
              <a:rPr dirty="0"/>
              <a:t>• Worked with FHIR resource relationships</a:t>
            </a:r>
            <a:r>
              <a:rPr lang="en-IN" dirty="0"/>
              <a:t> (Patient, Condition, </a:t>
            </a:r>
            <a:r>
              <a:rPr lang="en-IN" dirty="0" err="1"/>
              <a:t>MedicationRequest</a:t>
            </a:r>
            <a:r>
              <a:rPr lang="en-IN" dirty="0"/>
              <a:t>, Observation)</a:t>
            </a:r>
            <a:br>
              <a:rPr dirty="0"/>
            </a:br>
            <a:r>
              <a:rPr dirty="0"/>
              <a:t>• Built a clinical dashboard using real FHIR APIs</a:t>
            </a:r>
            <a:endParaRPr lang="en-IN" dirty="0"/>
          </a:p>
          <a:p>
            <a:pPr>
              <a:defRPr sz="2200"/>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53100"/>
          </a:xfrm>
        </p:spPr>
        <p:txBody>
          <a:bodyPr/>
          <a:lstStyle/>
          <a:p>
            <a:r>
              <a:rPr dirty="0"/>
              <a:t>Future Enhancements</a:t>
            </a:r>
          </a:p>
        </p:txBody>
      </p:sp>
      <p:sp>
        <p:nvSpPr>
          <p:cNvPr id="3" name="TextBox 2"/>
          <p:cNvSpPr txBox="1"/>
          <p:nvPr/>
        </p:nvSpPr>
        <p:spPr>
          <a:xfrm>
            <a:off x="1695235" y="1510300"/>
            <a:ext cx="6351483" cy="1785104"/>
          </a:xfrm>
          <a:prstGeom prst="rect">
            <a:avLst/>
          </a:prstGeom>
          <a:noFill/>
        </p:spPr>
        <p:txBody>
          <a:bodyPr wrap="square">
            <a:spAutoFit/>
          </a:bodyPr>
          <a:lstStyle/>
          <a:p>
            <a:pPr>
              <a:defRPr sz="2200"/>
            </a:pPr>
            <a:r>
              <a:rPr dirty="0"/>
              <a:t>• </a:t>
            </a:r>
            <a:r>
              <a:rPr dirty="0" err="1"/>
              <a:t>AllergyIntolerance</a:t>
            </a:r>
            <a:br>
              <a:rPr dirty="0"/>
            </a:br>
            <a:r>
              <a:rPr dirty="0"/>
              <a:t>• Encounter</a:t>
            </a:r>
            <a:br>
              <a:rPr dirty="0"/>
            </a:br>
            <a:r>
              <a:rPr dirty="0"/>
              <a:t>• Diagnostic Reports</a:t>
            </a:r>
            <a:br>
              <a:rPr dirty="0"/>
            </a:br>
            <a:r>
              <a:rPr dirty="0"/>
              <a:t>• AI-generated clinical summaries</a:t>
            </a:r>
            <a:br>
              <a:rPr dirty="0"/>
            </a:br>
            <a:r>
              <a:rPr dirty="0"/>
              <a:t>• Trend visualization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57</TotalTime>
  <Words>346</Words>
  <Application>Microsoft Office PowerPoint</Application>
  <PresentationFormat>On-screen Show (4:3)</PresentationFormat>
  <Paragraphs>67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Corbel</vt:lpstr>
      <vt:lpstr>Parallax</vt:lpstr>
      <vt:lpstr>FHIR Clinical Intelligence Platform</vt:lpstr>
      <vt:lpstr>Problem Statement</vt:lpstr>
      <vt:lpstr>Architecture</vt:lpstr>
      <vt:lpstr>Technology Stack</vt:lpstr>
      <vt:lpstr>Application Workflow</vt:lpstr>
      <vt:lpstr>PowerPoint Presentation</vt:lpstr>
      <vt:lpstr>PowerPoint Presentation</vt:lpstr>
      <vt:lpstr>Challenges &amp; Learnings</vt:lpstr>
      <vt:lpstr>Future Enhancements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dinesh kumar</cp:lastModifiedBy>
  <cp:revision>10</cp:revision>
  <dcterms:created xsi:type="dcterms:W3CDTF">2013-01-27T09:14:16Z</dcterms:created>
  <dcterms:modified xsi:type="dcterms:W3CDTF">2026-07-20T18:33:51Z</dcterms:modified>
  <cp:category/>
</cp:coreProperties>
</file>